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3"/>
    <p:sldId id="257" r:id="rId4"/>
    <p:sldId id="258" r:id="rId5"/>
    <p:sldId id="259" r:id="rId6"/>
    <p:sldId id="260" r:id="rId7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E0F446-25F7-4071-9718-639799E807B8}" type="datetimeFigureOut">
              <a:rPr lang="ru-RU" smtClean="0"/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2D374B-E73F-4184-869B-B09B085FC187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Конструктор </a:t>
            </a:r>
            <a:r>
              <a:rPr lang="ru-RU" b="1" dirty="0"/>
              <a:t>не может</a:t>
            </a:r>
            <a:r>
              <a:rPr lang="ru-RU" dirty="0"/>
              <a:t> возвращать значения (даже значение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ru-RU" dirty="0"/>
              <a:t>). Если в конструкторе написать возвращение значения с помощью оператора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</a:t>
            </a:r>
            <a:r>
              <a:rPr lang="ru-RU" dirty="0"/>
              <a:t>, то компилятор выдаст ошибку.</a:t>
            </a:r>
            <a:endParaRPr lang="en-US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20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200" dirty="0"/>
              <a:t>Как правило, деструктор используется для освобождения памяти, динамично выделенной под внутренние данные класса.</a:t>
            </a:r>
            <a:endParaRPr lang="en-US" sz="1200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652AB4-DE5D-4182-9A2A-8BB7D7D1827C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Конструктор по умолчанию – это конструктор, объявленный без параметров.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Если в классе отсутствует любой конструктор, то компилятор автоматически вызовет конструктор по умолчанию. При этом если в классе объявить, например, один конструктор с параметрами,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ru-RU" baseline="0" dirty="0"/>
              <a:t>вызвать конструктор по умолчанию, </a:t>
            </a:r>
            <a:r>
              <a:rPr lang="ru-RU" dirty="0"/>
              <a:t>то компилятор выдаст ошибку. </a:t>
            </a:r>
            <a:endParaRPr lang="ru-RU" dirty="0"/>
          </a:p>
          <a:p>
            <a:endParaRPr lang="ru-RU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dirty="0"/>
              <a:t>Параметризованный конструктор – это конструктор класса, который имеет параметры.</a:t>
            </a:r>
            <a:endParaRPr lang="ru-RU" dirty="0"/>
          </a:p>
          <a:p>
            <a:endParaRPr lang="ru-RU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dirty="0"/>
              <a:t>Конструктор копирования – это специальный конструктор, который позволяет получить идентичный к заданному объект. То есть, с помощью конструктора копирования можно получить копию уже существующего объекта. Конструктор копирования еще называется инициализатором копии (</a:t>
            </a:r>
            <a:r>
              <a:rPr lang="ru-RU" dirty="0" err="1"/>
              <a:t>copy</a:t>
            </a:r>
            <a:r>
              <a:rPr lang="ru-RU" dirty="0"/>
              <a:t> </a:t>
            </a:r>
            <a:r>
              <a:rPr lang="ru-RU" dirty="0" err="1"/>
              <a:t>initializer</a:t>
            </a:r>
            <a:r>
              <a:rPr lang="ru-RU" dirty="0"/>
              <a:t>). Конструктор копирования должен получать входным параметром константную ссылку (&amp;) на объект такого же класса.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652AB4-DE5D-4182-9A2A-8BB7D7D1827C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Если в классе не объявлен конструктор копирования, то используется конструктор копирования, который автоматически генерируется компилятором. Этот конструктор копирования реализует побитовое копирование для получения копии объекта.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652AB4-DE5D-4182-9A2A-8BB7D7D1827C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 конструкторе объект получает доступ к какому либо ресурсу (например, открывается файл или устанавливается соединение по сети к базе данных) и сохраняет описатель ресурса в закрытый члена класса, а при вызове </a:t>
            </a:r>
            <a:r>
              <a:rPr lang="ru-RU" dirty="0" err="1"/>
              <a:t>деструктура</a:t>
            </a:r>
            <a:r>
              <a:rPr lang="ru-RU" dirty="0"/>
              <a:t> этот ресурс освобождается (закрывается файл или соединение к БД). При объявлении объекта данного класса на стеке происходит и его инициализация с вызовом конструктора, захватывающий ресурс. При выходе из области видимости объект выталкивается из стека, но перед этим вызывается деструктор объекта, который и освобождает захваченный ресурс.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652AB4-DE5D-4182-9A2A-8BB7D7D1827C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dirty="0"/>
              <a:t>Когда C++11 представил </a:t>
            </a:r>
            <a:r>
              <a:rPr lang="ru-RU" dirty="0" err="1"/>
              <a:t>move</a:t>
            </a:r>
            <a:r>
              <a:rPr lang="ru-RU" dirty="0"/>
              <a:t> семантику (или семантику перемещения), то «Правило Трех» было трансформировано в «Правила Пяти».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/>
              <a:t>Будет рассматриваться на 6 лекции.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652AB4-DE5D-4182-9A2A-8BB7D7D1827C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encapsulation.cpp</a:t>
            </a:r>
            <a:endParaRPr lang="ru-RU" dirty="0"/>
          </a:p>
          <a:p>
            <a:endParaRPr lang="ru-RU" dirty="0"/>
          </a:p>
          <a:p>
            <a:r>
              <a:rPr lang="ru-RU" dirty="0"/>
              <a:t>Попытка напечатать или изменить приватную переменную </a:t>
            </a:r>
            <a:r>
              <a:rPr lang="ru-RU" dirty="0" err="1"/>
              <a:t>mobile_number</a:t>
            </a:r>
            <a:r>
              <a:rPr lang="ru-RU" dirty="0"/>
              <a:t> из основной программы (</a:t>
            </a:r>
            <a:r>
              <a:rPr lang="ru-RU" dirty="0" err="1"/>
              <a:t>main</a:t>
            </a:r>
            <a:r>
              <a:rPr lang="ru-RU" dirty="0"/>
              <a:t>) вызовет ошибку при компиляции потому как доступ к приватным данным в классе ограничен.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652AB4-DE5D-4182-9A2A-8BB7D7D1827C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 динамический будем говорить позже по курсу, а вот статический</a:t>
            </a:r>
            <a:r>
              <a:rPr lang="ru-RU" baseline="0" dirty="0"/>
              <a:t> затронем сегодня.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652AB4-DE5D-4182-9A2A-8BB7D7D1827C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Таким</a:t>
            </a:r>
            <a:r>
              <a:rPr lang="ru-RU" baseline="0" dirty="0"/>
              <a:t> образом, если функции имеют одинаковые имена и одинаковые списки параметров, но возвращают разные значения, то такие функции НЕ ЯВЛЯЮТСЯ ПЕРЕГРУЖННЫМИ.</a:t>
            </a:r>
            <a:endParaRPr lang="ru-RU" baseline="0" dirty="0"/>
          </a:p>
          <a:p>
            <a:r>
              <a:rPr lang="ru-RU" dirty="0"/>
              <a:t>Компилятор распознает перегруженные функции только по получаемым параметрам. Если две функции имеют одинаковые имена, одинаковое количество и типы параметров но возвращают разные значения, то такие функции считаются одинаковыми. В этом случае компилятор выдаст ошибку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652AB4-DE5D-4182-9A2A-8BB7D7D1827C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static_polymorphism.cpp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652AB4-DE5D-4182-9A2A-8BB7D7D1827C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class_static_polymorphism.cpp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652AB4-DE5D-4182-9A2A-8BB7D7D1827C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point.cpp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652AB4-DE5D-4182-9A2A-8BB7D7D1827C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init_class.cpp</a:t>
            </a:r>
            <a:endParaRPr lang="ru-RU" dirty="0"/>
          </a:p>
          <a:p>
            <a:endParaRPr lang="ru-RU" dirty="0"/>
          </a:p>
          <a:p>
            <a:r>
              <a:rPr lang="ru-RU" dirty="0"/>
              <a:t>Списки инициализации не только позволяют инициализировать константы, но и работают эффективнее (не выполняется копирующая инициализация).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652AB4-DE5D-4182-9A2A-8BB7D7D1827C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init_class.cpp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652AB4-DE5D-4182-9A2A-8BB7D7D1827C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init_mass_class.cpp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652AB4-DE5D-4182-9A2A-8BB7D7D1827C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////////////////////////////////////////////////////////////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Color::Color(Uint32 color) :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r((color &amp; 0xff000000) &gt;&gt; 24),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g((color &amp; 0x00ff0000) &gt;&gt; 16),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b((color &amp; 0x0000ff00) &gt;&gt; 8 ),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a((color &amp; 0x0000000ff) &gt;&gt; 0 )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////////////////////////////////////////////////////////////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Uint32 Color::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toInteger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return (r &lt;&lt; 24) | (g &lt;&lt; 16) | (b &lt;&lt; 8) | a;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652AB4-DE5D-4182-9A2A-8BB7D7D1827C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CB6DA-5F54-417B-9AD3-BB4759AEDB49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8C085-C60A-4FE4-8B0A-798A786D8A89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CB6DA-5F54-417B-9AD3-BB4759AEDB49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8C085-C60A-4FE4-8B0A-798A786D8A89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CB6DA-5F54-417B-9AD3-BB4759AEDB49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8C085-C60A-4FE4-8B0A-798A786D8A89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CB6DA-5F54-417B-9AD3-BB4759AEDB49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8C085-C60A-4FE4-8B0A-798A786D8A89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CB6DA-5F54-417B-9AD3-BB4759AEDB49}" type="datetimeFigureOut">
              <a:rPr lang="ru-RU" smtClean="0"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8C085-C60A-4FE4-8B0A-798A786D8A89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CB6DA-5F54-417B-9AD3-BB4759AEDB49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8C085-C60A-4FE4-8B0A-798A786D8A89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CB6DA-5F54-417B-9AD3-BB4759AEDB49}" type="datetimeFigureOut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8C085-C60A-4FE4-8B0A-798A786D8A89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CB6DA-5F54-417B-9AD3-BB4759AEDB49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8C085-C60A-4FE4-8B0A-798A786D8A89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CB6DA-5F54-417B-9AD3-BB4759AEDB49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8C085-C60A-4FE4-8B0A-798A786D8A89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CB6DA-5F54-417B-9AD3-BB4759AEDB49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8C085-C60A-4FE4-8B0A-798A786D8A89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CB6DA-5F54-417B-9AD3-BB4759AEDB49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8C085-C60A-4FE4-8B0A-798A786D8A89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4CB6DA-5F54-417B-9AD3-BB4759AEDB49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88C085-C60A-4FE4-8B0A-798A786D8A89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cap="small" dirty="0"/>
              <a:t>Введение в ООП</a:t>
            </a:r>
            <a:endParaRPr lang="ru-RU" cap="small" dirty="0"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Семинар 2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5C8D-314C-48F6-A8F7-E5E48CE6BF86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Принципы ООП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наследование – это процесс, посредством которого один объект может приобретать свойства другого,</a:t>
            </a:r>
            <a:endParaRPr lang="ru-RU" dirty="0"/>
          </a:p>
          <a:p>
            <a:r>
              <a:rPr lang="ru-RU" dirty="0"/>
              <a:t>инкапсуляция – это механизм, который объединяет данные и код, манипулирующий этими данными, а также защищает и то, и другое от внешнего вмешательства или неправильного использования,</a:t>
            </a:r>
            <a:endParaRPr lang="ru-RU" dirty="0"/>
          </a:p>
          <a:p>
            <a:r>
              <a:rPr lang="ru-RU" dirty="0"/>
              <a:t>полиморфизм – один интерфейс, много методов. Как пример: перегрузка функций.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5C8D-314C-48F6-A8F7-E5E48CE6BF86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Классы и объекты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Класс — это логическая абстракция, которая реально не существует до тех пор, пока не будет создан объект этого класса, т.е. то, что станет физическим представлением этого класса в памяти компьютера.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Cat cat;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//</a:t>
            </a:r>
            <a:r>
              <a:rPr lang="ru-RU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 создание объекта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 cat</a:t>
            </a:r>
            <a:r>
              <a:rPr lang="ru-RU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 класса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 Cat</a:t>
            </a:r>
            <a:endParaRPr lang="ru-RU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5C8D-314C-48F6-A8F7-E5E48CE6BF86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Конструкторы и деструкторы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Конструктор вызывается при создании объекта класса. Как правило, конструктор используется для:</a:t>
            </a:r>
            <a:endParaRPr lang="en-US" dirty="0"/>
          </a:p>
          <a:p>
            <a:r>
              <a:rPr lang="ru-RU" dirty="0"/>
              <a:t>выделения памяти под объект класса;</a:t>
            </a:r>
            <a:endParaRPr lang="en-US" dirty="0"/>
          </a:p>
          <a:p>
            <a:r>
              <a:rPr lang="ru-RU" dirty="0"/>
              <a:t>начальной инициализации внутренних данных класса.</a:t>
            </a:r>
            <a:endParaRPr lang="en-US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Деструктор –</a:t>
            </a:r>
            <a:r>
              <a:rPr lang="en-US" dirty="0"/>
              <a:t> </a:t>
            </a:r>
            <a:r>
              <a:rPr lang="ru-RU" dirty="0"/>
              <a:t>специальный метод, который вызывается при удалении объекта. 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Деструктор – это обратная по отношению к конструктору функция.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5C8D-314C-48F6-A8F7-E5E48CE6BF86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конструкторов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735" dirty="0"/>
              <a:t>по умолчанию</a:t>
            </a:r>
            <a:endParaRPr lang="ru-RU" sz="3735" dirty="0"/>
          </a:p>
          <a:p>
            <a:r>
              <a:rPr lang="ru-RU" sz="3735" dirty="0"/>
              <a:t>параметризованный</a:t>
            </a:r>
            <a:endParaRPr lang="ru-RU" sz="3735" dirty="0"/>
          </a:p>
          <a:p>
            <a:r>
              <a:rPr lang="ru-RU" sz="3735" dirty="0"/>
              <a:t>копирования </a:t>
            </a:r>
            <a:endParaRPr lang="ru-RU" sz="3735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5C8D-314C-48F6-A8F7-E5E48CE6BF86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Конструктор копирования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В C++ полная копия объекта нужна в следующих случая:</a:t>
            </a:r>
            <a:endParaRPr lang="ru-RU" dirty="0"/>
          </a:p>
          <a:p>
            <a:pPr marL="609600" indent="-609600">
              <a:buFont typeface="+mj-lt"/>
              <a:buAutoNum type="arabicPeriod"/>
            </a:pPr>
            <a:r>
              <a:rPr lang="ru-RU" dirty="0"/>
              <a:t>В момент объявления нового объекта и его инициализации данными другого объекта с помощью оператора =.</a:t>
            </a:r>
            <a:endParaRPr lang="en-US" dirty="0"/>
          </a:p>
          <a:p>
            <a:pPr marL="609600" indent="-609600">
              <a:buFont typeface="+mj-lt"/>
              <a:buAutoNum type="arabicPeriod"/>
            </a:pPr>
            <a:r>
              <a:rPr lang="ru-RU" dirty="0"/>
              <a:t>Когда нужно передать объект в функцию как параметр-значение.</a:t>
            </a:r>
            <a:endParaRPr lang="en-US" dirty="0"/>
          </a:p>
          <a:p>
            <a:pPr marL="609600" indent="-609600">
              <a:buFont typeface="+mj-lt"/>
              <a:buAutoNum type="arabicPeriod"/>
            </a:pPr>
            <a:r>
              <a:rPr lang="ru-RU" dirty="0"/>
              <a:t>Когда нужно вернуть объект из функции по значению. ! Если в классе не объявлен конструктор копирования, то используется конструктор копирования, который автоматически генерируется компилятором. Этот конструктор копирования реализует побитовое копирование для получения копии объекта.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5C8D-314C-48F6-A8F7-E5E48CE6BF86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Деструктор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Имя деструктора совпадает с именем класса, перед которым следует символ ‘~’.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Деструктор не может иметь параметров.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При объявлении класса, можно объявить только один деструктор.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5C8D-314C-48F6-A8F7-E5E48CE6BF86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of tree / rule of five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Один из основополагающих принципов C++ – RAII (</a:t>
            </a:r>
            <a:r>
              <a:rPr lang="ru-RU" dirty="0" err="1"/>
              <a:t>Resource</a:t>
            </a:r>
            <a:r>
              <a:rPr lang="ru-RU" dirty="0"/>
              <a:t> </a:t>
            </a:r>
            <a:r>
              <a:rPr lang="ru-RU" dirty="0" err="1"/>
              <a:t>Acquisition</a:t>
            </a:r>
            <a:r>
              <a:rPr lang="ru-RU" dirty="0"/>
              <a:t> </a:t>
            </a:r>
            <a:r>
              <a:rPr lang="ru-RU" dirty="0" err="1"/>
              <a:t>Is</a:t>
            </a:r>
            <a:r>
              <a:rPr lang="ru-RU" dirty="0"/>
              <a:t> </a:t>
            </a:r>
            <a:r>
              <a:rPr lang="ru-RU" dirty="0" err="1"/>
              <a:t>Initialization</a:t>
            </a:r>
            <a:r>
              <a:rPr lang="ru-RU" dirty="0"/>
              <a:t> — “получение ресурса есть инициализация”).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5C8D-314C-48F6-A8F7-E5E48CE6BF86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of tree / rule of five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Правило трёх (</a:t>
            </a:r>
            <a:r>
              <a:rPr lang="en-US" dirty="0"/>
              <a:t>rule of three</a:t>
            </a:r>
            <a:r>
              <a:rPr lang="ru-RU" dirty="0"/>
              <a:t>, закон «Большой тройки»). </a:t>
            </a:r>
            <a:r>
              <a:rPr lang="en-US" dirty="0"/>
              <a:t>E</a:t>
            </a:r>
            <a:r>
              <a:rPr lang="ru-RU" dirty="0" err="1"/>
              <a:t>сли</a:t>
            </a:r>
            <a:r>
              <a:rPr lang="ru-RU" dirty="0"/>
              <a:t> классу необходим один из следующих методов:</a:t>
            </a:r>
            <a:endParaRPr lang="ru-RU" dirty="0"/>
          </a:p>
          <a:p>
            <a:pPr marL="1068705" indent="-541655"/>
            <a:r>
              <a:rPr lang="ru-RU" dirty="0"/>
              <a:t>Деструктор</a:t>
            </a:r>
            <a:endParaRPr lang="ru-RU" dirty="0"/>
          </a:p>
          <a:p>
            <a:pPr marL="1068705" indent="-541655"/>
            <a:r>
              <a:rPr lang="ru-RU" dirty="0"/>
              <a:t>Конструктор копирования</a:t>
            </a:r>
            <a:endParaRPr lang="ru-RU" dirty="0"/>
          </a:p>
          <a:p>
            <a:pPr marL="1068705" indent="-541655"/>
            <a:r>
              <a:rPr lang="ru-RU" dirty="0"/>
              <a:t>Оператор копирующего присваивания,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то класс должен определять все три.</a:t>
            </a: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С выходом С++11 правило трёх превратилось в правило пяти (</a:t>
            </a:r>
            <a:r>
              <a:rPr lang="en-US" dirty="0"/>
              <a:t>rule of five</a:t>
            </a:r>
            <a:r>
              <a:rPr lang="ru-RU" dirty="0"/>
              <a:t>): если классу необходим один из следующих методов:</a:t>
            </a:r>
            <a:endParaRPr lang="ru-RU" dirty="0"/>
          </a:p>
          <a:p>
            <a:pPr marL="1068705" indent="-376555"/>
            <a:r>
              <a:rPr lang="ru-RU" dirty="0"/>
              <a:t>Деструктор</a:t>
            </a:r>
            <a:endParaRPr lang="ru-RU" dirty="0"/>
          </a:p>
          <a:p>
            <a:pPr marL="1068705" indent="-376555"/>
            <a:r>
              <a:rPr lang="ru-RU" dirty="0"/>
              <a:t>Конструктор копирования</a:t>
            </a:r>
            <a:endParaRPr lang="ru-RU" dirty="0"/>
          </a:p>
          <a:p>
            <a:pPr marL="1068705" indent="-376555"/>
            <a:r>
              <a:rPr lang="ru-RU" dirty="0"/>
              <a:t>Оператор копирующего присваивания</a:t>
            </a:r>
            <a:endParaRPr lang="en-US" dirty="0"/>
          </a:p>
          <a:p>
            <a:pPr marL="1068705" indent="-376555"/>
            <a:r>
              <a:rPr lang="ru-RU" dirty="0"/>
              <a:t>Конструктор перемещения</a:t>
            </a:r>
            <a:endParaRPr lang="ru-RU" dirty="0"/>
          </a:p>
          <a:p>
            <a:pPr marL="1068705" indent="-376555"/>
            <a:r>
              <a:rPr lang="ru-RU" dirty="0"/>
              <a:t>Оператор перемещающего присваивания,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то класс должен определять все пять.</a:t>
            </a:r>
            <a:endParaRPr lang="ru-RU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5C8D-314C-48F6-A8F7-E5E48CE6BF86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Инкапсуляция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Для типа </a:t>
            </a:r>
            <a:r>
              <a:rPr lang="en-US" dirty="0"/>
              <a:t>struct</a:t>
            </a:r>
            <a:r>
              <a:rPr lang="ru-RU" dirty="0"/>
              <a:t> все данные и методы по умолчанию </a:t>
            </a:r>
            <a:r>
              <a:rPr lang="en-US" dirty="0"/>
              <a:t>public.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Для типа</a:t>
            </a:r>
            <a:r>
              <a:rPr lang="en-US" dirty="0"/>
              <a:t> class</a:t>
            </a:r>
            <a:r>
              <a:rPr lang="ru-RU" dirty="0"/>
              <a:t> все данные и методы по умолчанию</a:t>
            </a:r>
            <a:r>
              <a:rPr lang="en-US" dirty="0"/>
              <a:t> private.</a:t>
            </a:r>
            <a:endParaRPr lang="en-US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В C++ доступно несколько спецификаторов, и они изменяют доступ к данным следующим образом:</a:t>
            </a:r>
            <a:endParaRPr lang="ru-RU" dirty="0"/>
          </a:p>
          <a:p>
            <a:r>
              <a:rPr lang="ru-RU" dirty="0"/>
              <a:t>публичные (</a:t>
            </a:r>
            <a:r>
              <a:rPr lang="ru-RU" dirty="0" err="1"/>
              <a:t>public</a:t>
            </a:r>
            <a:r>
              <a:rPr lang="ru-RU" dirty="0"/>
              <a:t>) – данные  доступны всем;</a:t>
            </a:r>
            <a:endParaRPr lang="ru-RU" dirty="0"/>
          </a:p>
          <a:p>
            <a:r>
              <a:rPr lang="ru-RU" dirty="0"/>
              <a:t>защищенные (</a:t>
            </a:r>
            <a:r>
              <a:rPr lang="ru-RU" dirty="0" err="1"/>
              <a:t>protected</a:t>
            </a:r>
            <a:r>
              <a:rPr lang="ru-RU" dirty="0"/>
              <a:t>)  –  доступны только классу и дочерним классам;</a:t>
            </a:r>
            <a:endParaRPr lang="ru-RU" dirty="0"/>
          </a:p>
          <a:p>
            <a:r>
              <a:rPr lang="ru-RU" dirty="0"/>
              <a:t>приватные (</a:t>
            </a:r>
            <a:r>
              <a:rPr lang="ru-RU" dirty="0" err="1"/>
              <a:t>private</a:t>
            </a:r>
            <a:r>
              <a:rPr lang="ru-RU" dirty="0"/>
              <a:t>) – доступны только классу которому они принадлежат.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5C8D-314C-48F6-A8F7-E5E48CE6BF86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Инкапсуляция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5C8D-314C-48F6-A8F7-E5E48CE6BF86}" type="slidenum">
              <a:rPr lang="ru-RU" smtClean="0"/>
            </a:fld>
            <a:endParaRPr lang="ru-RU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39" y="2276872"/>
            <a:ext cx="6856415" cy="432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4279" y="4007757"/>
            <a:ext cx="6474384" cy="162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5947" y="836713"/>
            <a:ext cx="6432715" cy="261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Полиморфизм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В языке C++ есть возможность реализовывать два вида полиморфизма:</a:t>
            </a:r>
            <a:endParaRPr lang="ru-RU" dirty="0"/>
          </a:p>
          <a:p>
            <a:pPr marL="609600" indent="-609600">
              <a:buFont typeface="+mj-lt"/>
              <a:buAutoNum type="arabicPeriod"/>
            </a:pPr>
            <a:r>
              <a:rPr lang="ru-RU" dirty="0"/>
              <a:t>Статический. Этот вид полиморфизма достигается путём использования перегруженных функций (раннее связывание).</a:t>
            </a:r>
            <a:endParaRPr lang="ru-RU" dirty="0"/>
          </a:p>
          <a:p>
            <a:pPr marL="609600" indent="-609600">
              <a:buFont typeface="+mj-lt"/>
              <a:buAutoNum type="arabicPeriod"/>
            </a:pPr>
            <a:r>
              <a:rPr lang="ru-RU" dirty="0"/>
              <a:t>Динамический. В этом случае используется наследование в сочетании с виртуальными функциями (позднее связывание).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5C8D-314C-48F6-A8F7-E5E48CE6BF86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Статический полиморфизм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sz="5335" b="1" dirty="0"/>
              <a:t>«Перегрузка»</a:t>
            </a:r>
            <a:r>
              <a:rPr lang="ru-RU" sz="5335" dirty="0"/>
              <a:t> функции – это объявление функции с тем же именем несколько раз. Чтобы компилятор мог отличать «перегруженные» функции между собой, эти функции </a:t>
            </a:r>
            <a:r>
              <a:rPr lang="ru-RU" sz="5335" b="1" u="sng" dirty="0"/>
              <a:t>должны отличаться списком входных параметров</a:t>
            </a:r>
            <a:r>
              <a:rPr lang="ru-RU" sz="5335" dirty="0"/>
              <a:t>.</a:t>
            </a:r>
            <a:endParaRPr lang="ru-RU" sz="5335" dirty="0"/>
          </a:p>
          <a:p>
            <a:pPr marL="0" indent="0">
              <a:lnSpc>
                <a:spcPct val="120000"/>
              </a:lnSpc>
              <a:buNone/>
            </a:pPr>
            <a:r>
              <a:rPr lang="ru-RU" sz="5335" dirty="0"/>
              <a:t>В общем случае, объявление перегруженной функции в некоторой области видимости выглядит следующим образом:</a:t>
            </a:r>
            <a:endParaRPr lang="ru-RU" sz="5335" dirty="0"/>
          </a:p>
          <a:p>
            <a:pPr marL="365760" lvl="1" indent="0">
              <a:buNone/>
            </a:pPr>
            <a:r>
              <a:rPr lang="en-US" sz="4000" dirty="0">
                <a:latin typeface="Consolas" panose="020B0609020204030204" pitchFamily="49" charset="0"/>
              </a:rPr>
              <a:t>return_type1 </a:t>
            </a:r>
            <a:r>
              <a:rPr lang="en-US" sz="4000" dirty="0" err="1">
                <a:latin typeface="Consolas" panose="020B0609020204030204" pitchFamily="49" charset="0"/>
              </a:rPr>
              <a:t>FunName</a:t>
            </a:r>
            <a:r>
              <a:rPr lang="en-US" sz="4000" dirty="0">
                <a:latin typeface="Consolas" panose="020B0609020204030204" pitchFamily="49" charset="0"/>
              </a:rPr>
              <a:t>(parameters_list_1)</a:t>
            </a:r>
            <a:endParaRPr lang="en-US" sz="4000" dirty="0">
              <a:latin typeface="Consolas" panose="020B0609020204030204" pitchFamily="49" charset="0"/>
            </a:endParaRPr>
          </a:p>
          <a:p>
            <a:pPr marL="365760" lvl="1" indent="0">
              <a:buNone/>
            </a:pPr>
            <a:r>
              <a:rPr lang="en-US" sz="4000" dirty="0">
                <a:latin typeface="Consolas" panose="020B0609020204030204" pitchFamily="49" charset="0"/>
              </a:rPr>
              <a:t>{ </a:t>
            </a:r>
            <a:endParaRPr lang="en-US" sz="4000" dirty="0">
              <a:latin typeface="Consolas" panose="020B0609020204030204" pitchFamily="49" charset="0"/>
            </a:endParaRPr>
          </a:p>
          <a:p>
            <a:pPr marL="365760" lvl="1" indent="0">
              <a:buNone/>
            </a:pPr>
            <a:r>
              <a:rPr lang="en-US" sz="4000" dirty="0">
                <a:latin typeface="Consolas" panose="020B0609020204030204" pitchFamily="49" charset="0"/>
              </a:rPr>
              <a:t>    </a:t>
            </a:r>
            <a:r>
              <a:rPr lang="en-US" sz="40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// ...</a:t>
            </a:r>
            <a:endParaRPr lang="en-US" sz="40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365760" lvl="1" indent="0">
              <a:buNone/>
            </a:pPr>
            <a:r>
              <a:rPr lang="en-US" sz="4000" dirty="0">
                <a:latin typeface="Consolas" panose="020B0609020204030204" pitchFamily="49" charset="0"/>
              </a:rPr>
              <a:t>}</a:t>
            </a:r>
            <a:endParaRPr lang="en-US" sz="4000" dirty="0">
              <a:latin typeface="Consolas" panose="020B0609020204030204" pitchFamily="49" charset="0"/>
            </a:endParaRPr>
          </a:p>
          <a:p>
            <a:pPr marL="365760" lvl="1" indent="0">
              <a:buNone/>
            </a:pPr>
            <a:r>
              <a:rPr lang="en-US" sz="4000" dirty="0">
                <a:latin typeface="Consolas" panose="020B0609020204030204" pitchFamily="49" charset="0"/>
              </a:rPr>
              <a:t>return_type2 </a:t>
            </a:r>
            <a:r>
              <a:rPr lang="en-US" sz="4000" dirty="0" err="1">
                <a:latin typeface="Consolas" panose="020B0609020204030204" pitchFamily="49" charset="0"/>
              </a:rPr>
              <a:t>FunName</a:t>
            </a:r>
            <a:r>
              <a:rPr lang="en-US" sz="4000" dirty="0">
                <a:latin typeface="Consolas" panose="020B0609020204030204" pitchFamily="49" charset="0"/>
              </a:rPr>
              <a:t>(parameters_list_2)</a:t>
            </a:r>
            <a:endParaRPr lang="en-US" sz="4000" dirty="0">
              <a:latin typeface="Consolas" panose="020B0609020204030204" pitchFamily="49" charset="0"/>
            </a:endParaRPr>
          </a:p>
          <a:p>
            <a:pPr marL="365760" lvl="1" indent="0">
              <a:buNone/>
            </a:pPr>
            <a:r>
              <a:rPr lang="en-US" sz="4000" dirty="0">
                <a:latin typeface="Consolas" panose="020B0609020204030204" pitchFamily="49" charset="0"/>
              </a:rPr>
              <a:t>{ </a:t>
            </a:r>
            <a:endParaRPr lang="en-US" sz="4000" dirty="0">
              <a:latin typeface="Consolas" panose="020B0609020204030204" pitchFamily="49" charset="0"/>
            </a:endParaRPr>
          </a:p>
          <a:p>
            <a:pPr marL="365760" lvl="1" indent="0">
              <a:buNone/>
            </a:pPr>
            <a:r>
              <a:rPr lang="en-US" sz="4000" dirty="0">
                <a:latin typeface="Consolas" panose="020B0609020204030204" pitchFamily="49" charset="0"/>
              </a:rPr>
              <a:t>   </a:t>
            </a:r>
            <a:r>
              <a:rPr lang="en-US" sz="40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 // ...</a:t>
            </a:r>
            <a:endParaRPr lang="en-US" sz="40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365760" lvl="1" indent="0">
              <a:buNone/>
            </a:pPr>
            <a:r>
              <a:rPr lang="en-US" sz="4000" dirty="0">
                <a:latin typeface="Consolas" panose="020B0609020204030204" pitchFamily="49" charset="0"/>
              </a:rPr>
              <a:t>}</a:t>
            </a:r>
            <a:endParaRPr lang="en-US" sz="4000" dirty="0">
              <a:latin typeface="Consolas" panose="020B0609020204030204" pitchFamily="49" charset="0"/>
            </a:endParaRPr>
          </a:p>
          <a:p>
            <a:pPr marL="365760" lvl="1" indent="0">
              <a:buNone/>
            </a:pPr>
            <a:r>
              <a:rPr lang="en-US" sz="4000" dirty="0" err="1">
                <a:latin typeface="Consolas" panose="020B0609020204030204" pitchFamily="49" charset="0"/>
              </a:rPr>
              <a:t>return_typeN</a:t>
            </a:r>
            <a:r>
              <a:rPr lang="en-US" sz="4000" dirty="0">
                <a:latin typeface="Consolas" panose="020B0609020204030204" pitchFamily="49" charset="0"/>
              </a:rPr>
              <a:t> </a:t>
            </a:r>
            <a:r>
              <a:rPr lang="en-US" sz="4000" dirty="0" err="1">
                <a:latin typeface="Consolas" panose="020B0609020204030204" pitchFamily="49" charset="0"/>
              </a:rPr>
              <a:t>FunName</a:t>
            </a:r>
            <a:r>
              <a:rPr lang="en-US" sz="4000" dirty="0">
                <a:latin typeface="Consolas" panose="020B0609020204030204" pitchFamily="49" charset="0"/>
              </a:rPr>
              <a:t>(</a:t>
            </a:r>
            <a:r>
              <a:rPr lang="en-US" sz="4000" dirty="0" err="1">
                <a:latin typeface="Consolas" panose="020B0609020204030204" pitchFamily="49" charset="0"/>
              </a:rPr>
              <a:t>parameters_list_N</a:t>
            </a:r>
            <a:r>
              <a:rPr lang="en-US" sz="4000" dirty="0">
                <a:latin typeface="Consolas" panose="020B0609020204030204" pitchFamily="49" charset="0"/>
              </a:rPr>
              <a:t>)</a:t>
            </a:r>
            <a:endParaRPr lang="en-US" sz="4000" dirty="0">
              <a:latin typeface="Consolas" panose="020B0609020204030204" pitchFamily="49" charset="0"/>
            </a:endParaRPr>
          </a:p>
          <a:p>
            <a:pPr marL="365760" lvl="1" indent="0">
              <a:buNone/>
            </a:pPr>
            <a:r>
              <a:rPr lang="en-US" sz="4000" dirty="0">
                <a:latin typeface="Consolas" panose="020B0609020204030204" pitchFamily="49" charset="0"/>
              </a:rPr>
              <a:t>{ </a:t>
            </a:r>
            <a:endParaRPr lang="en-US" sz="4000" dirty="0">
              <a:latin typeface="Consolas" panose="020B0609020204030204" pitchFamily="49" charset="0"/>
            </a:endParaRPr>
          </a:p>
          <a:p>
            <a:pPr marL="365760" lvl="1" indent="0">
              <a:buNone/>
            </a:pPr>
            <a:r>
              <a:rPr lang="en-US" sz="4000" dirty="0">
                <a:latin typeface="Consolas" panose="020B0609020204030204" pitchFamily="49" charset="0"/>
              </a:rPr>
              <a:t>   </a:t>
            </a:r>
            <a:r>
              <a:rPr lang="en-US" sz="40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 // ...</a:t>
            </a:r>
            <a:endParaRPr lang="en-US" sz="40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marL="365760" lvl="1" indent="0">
              <a:buNone/>
            </a:pPr>
            <a:r>
              <a:rPr lang="en-US" sz="4000" dirty="0">
                <a:latin typeface="Consolas" panose="020B0609020204030204" pitchFamily="49" charset="0"/>
              </a:rPr>
              <a:t>}</a:t>
            </a:r>
            <a:endParaRPr lang="en-US" sz="4000" dirty="0">
              <a:latin typeface="Consolas" panose="020B06090202040302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5C8D-314C-48F6-A8F7-E5E48CE6BF86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Статический полиморфизм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5C8D-314C-48F6-A8F7-E5E48CE6BF86}" type="slidenum">
              <a:rPr lang="ru-RU" smtClean="0"/>
            </a:fld>
            <a:endParaRPr lang="ru-RU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725"/>
          <a:stretch>
            <a:fillRect/>
          </a:stretch>
        </p:blipFill>
        <p:spPr bwMode="auto">
          <a:xfrm>
            <a:off x="145390" y="1892829"/>
            <a:ext cx="6038973" cy="442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927"/>
          <a:stretch>
            <a:fillRect/>
          </a:stretch>
        </p:blipFill>
        <p:spPr bwMode="auto">
          <a:xfrm>
            <a:off x="5916798" y="1700808"/>
            <a:ext cx="6142113" cy="192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6023" y="4117050"/>
            <a:ext cx="4851400" cy="85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Пример перегрузки конструкторов в классе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5C8D-314C-48F6-A8F7-E5E48CE6BF86}" type="slidenum">
              <a:rPr lang="ru-RU" smtClean="0"/>
            </a:fld>
            <a:endParaRPr lang="ru-RU"/>
          </a:p>
        </p:txBody>
      </p:sp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9" y="1396007"/>
            <a:ext cx="5636937" cy="5393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0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4086" y="3010429"/>
            <a:ext cx="4320252" cy="3778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1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082" y="1396007"/>
            <a:ext cx="7492457" cy="1564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Списки инициализации членов класса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half" idx="2"/>
          </p:nvPr>
        </p:nvSpPr>
        <p:spPr>
          <a:xfrm>
            <a:off x="6864085" y="1673352"/>
            <a:ext cx="4718315" cy="4718304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В данном примере в конструкторе используется присваивание, а не инициализация.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5C8D-314C-48F6-A8F7-E5E48CE6BF86}" type="slidenum">
              <a:rPr lang="ru-RU" smtClean="0"/>
            </a:fld>
            <a:endParaRPr lang="ru-RU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350" y="2084851"/>
            <a:ext cx="6258652" cy="3985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Списки инициализации членов класса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609601" y="1673352"/>
            <a:ext cx="5198367" cy="47183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Если в классе </a:t>
            </a:r>
            <a:r>
              <a:rPr lang="en-US" dirty="0"/>
              <a:t>Point2d</a:t>
            </a:r>
            <a:r>
              <a:rPr lang="ru-RU" dirty="0"/>
              <a:t> появится константное поле, то его необходимо будет проинициализировать либо при создании объекта, либо через список инициализации. </a:t>
            </a:r>
            <a:br>
              <a:rPr lang="ru-RU" dirty="0"/>
            </a:br>
            <a:r>
              <a:rPr lang="ru-RU" dirty="0"/>
              <a:t>Поскольку </a:t>
            </a:r>
            <a:r>
              <a:rPr lang="ru-RU" u="sng" dirty="0"/>
              <a:t>разрешено инициализировать константные переменные (но не присваивать им значения!).</a:t>
            </a:r>
            <a:endParaRPr lang="en-US" u="sng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5C8D-314C-48F6-A8F7-E5E48CE6BF86}" type="slidenum">
              <a:rPr lang="ru-RU" smtClean="0"/>
            </a:fld>
            <a:endParaRPr lang="ru-RU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7967" y="1640848"/>
            <a:ext cx="6291295" cy="5009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Списки инициализации членов класса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>
          <a:xfrm>
            <a:off x="609601" y="1673352"/>
            <a:ext cx="5198367" cy="471830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3200" dirty="0"/>
              <a:t>Списки инициализации не только позволяют инициализировать константы, но и работают эффективнее (не выполняется копирующая инициализация).</a:t>
            </a:r>
            <a:endParaRPr lang="ru-RU" sz="3200" dirty="0"/>
          </a:p>
          <a:p>
            <a:pPr marL="0" indent="0">
              <a:buNone/>
            </a:pPr>
            <a:endParaRPr lang="ru-RU" sz="3200" dirty="0"/>
          </a:p>
          <a:p>
            <a:pPr marL="0" indent="0">
              <a:buNone/>
            </a:pPr>
            <a:r>
              <a:rPr lang="ru-RU" sz="3200" dirty="0"/>
              <a:t>Порядок в списке инициализации определяется списком деклараций.</a:t>
            </a:r>
            <a:br>
              <a:rPr lang="ru-RU" sz="3200" dirty="0"/>
            </a:br>
            <a:endParaRPr lang="en-US" u="sng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5C8D-314C-48F6-A8F7-E5E48CE6BF86}" type="slidenum">
              <a:rPr lang="ru-RU" smtClean="0"/>
            </a:fld>
            <a:endParaRPr lang="ru-RU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7967" y="1640848"/>
            <a:ext cx="6291295" cy="5009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Списки инициализации членов класса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7344139" y="1673352"/>
            <a:ext cx="4238261" cy="4718304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Если член класса – массив, то список инициализации приобретает следующий вид. 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5C8D-314C-48F6-A8F7-E5E48CE6BF86}" type="slidenum">
              <a:rPr lang="ru-RU" smtClean="0"/>
            </a:fld>
            <a:endParaRPr lang="ru-RU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349" y="1700808"/>
            <a:ext cx="6839523" cy="4800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04800" indent="-304800">
              <a:buFont typeface="+mj-lt"/>
              <a:buAutoNum type="arabicPeriod"/>
            </a:pPr>
            <a:r>
              <a:rPr lang="ru-RU" sz="1865" dirty="0"/>
              <a:t>Реализовать класс RGBA (конструкторы по умолчанию (черный цвет), с параметрами и копирования), хранящий в себе настройки цвета.</a:t>
            </a:r>
            <a:r>
              <a:rPr lang="en-US" sz="1865" dirty="0"/>
              <a:t> </a:t>
            </a:r>
            <a:r>
              <a:rPr lang="ru-RU" sz="1865" dirty="0"/>
              <a:t>Реализовать функции:</a:t>
            </a:r>
            <a:endParaRPr lang="ru-RU" sz="1865" dirty="0"/>
          </a:p>
          <a:p>
            <a:r>
              <a:rPr lang="ru-RU" sz="1865" dirty="0" err="1"/>
              <a:t>setColor</a:t>
            </a:r>
            <a:r>
              <a:rPr lang="ru-RU" sz="1865" dirty="0"/>
              <a:t>(r, g, b, a = 255) </a:t>
            </a:r>
            <a:r>
              <a:rPr lang="en-US" sz="1865" dirty="0"/>
              <a:t>– </a:t>
            </a:r>
            <a:r>
              <a:rPr lang="ru-RU" sz="1865" dirty="0"/>
              <a:t>принимает все значения цвета и устанавливает их (</a:t>
            </a:r>
            <a:r>
              <a:rPr lang="ru-RU" sz="1865" dirty="0" err="1"/>
              <a:t>alpha</a:t>
            </a:r>
            <a:r>
              <a:rPr lang="ru-RU" sz="1865" dirty="0"/>
              <a:t> по умолчанию 255)</a:t>
            </a:r>
            <a:endParaRPr lang="ru-RU" sz="1865" dirty="0"/>
          </a:p>
          <a:p>
            <a:r>
              <a:rPr lang="ru-RU" sz="1865" dirty="0" err="1"/>
              <a:t>setColor</a:t>
            </a:r>
            <a:r>
              <a:rPr lang="ru-RU" sz="1865" dirty="0"/>
              <a:t>() </a:t>
            </a:r>
            <a:r>
              <a:rPr lang="en-US" sz="1865" dirty="0"/>
              <a:t>– </a:t>
            </a:r>
            <a:r>
              <a:rPr lang="ru-RU" sz="1865" dirty="0"/>
              <a:t>не принимает параметров, устанавливает всем цветам значение 0</a:t>
            </a:r>
            <a:endParaRPr lang="ru-RU" sz="1865" dirty="0"/>
          </a:p>
          <a:p>
            <a:r>
              <a:rPr lang="en-US" sz="1865" dirty="0"/>
              <a:t>r</a:t>
            </a:r>
            <a:r>
              <a:rPr lang="ru-RU" sz="1865" dirty="0" err="1"/>
              <a:t>ed</a:t>
            </a:r>
            <a:r>
              <a:rPr lang="ru-RU" sz="1865" dirty="0"/>
              <a:t>(), </a:t>
            </a:r>
            <a:r>
              <a:rPr lang="ru-RU" sz="1865" dirty="0" err="1"/>
              <a:t>green</a:t>
            </a:r>
            <a:r>
              <a:rPr lang="ru-RU" sz="1865" dirty="0"/>
              <a:t>(), </a:t>
            </a:r>
            <a:r>
              <a:rPr lang="ru-RU" sz="1865" dirty="0" err="1"/>
              <a:t>blue</a:t>
            </a:r>
            <a:r>
              <a:rPr lang="ru-RU" sz="1865" dirty="0"/>
              <a:t>(), </a:t>
            </a:r>
            <a:r>
              <a:rPr lang="ru-RU" sz="1865" dirty="0" err="1"/>
              <a:t>alpha</a:t>
            </a:r>
            <a:r>
              <a:rPr lang="ru-RU" sz="1865" dirty="0"/>
              <a:t>() </a:t>
            </a:r>
            <a:r>
              <a:rPr lang="en-US" sz="1865" dirty="0"/>
              <a:t>– </a:t>
            </a:r>
            <a:r>
              <a:rPr lang="ru-RU" sz="1865" dirty="0"/>
              <a:t>возвращают значения конкретных цветов (не забыть про константность)</a:t>
            </a:r>
            <a:endParaRPr lang="ru-RU" sz="1865" dirty="0"/>
          </a:p>
          <a:p>
            <a:r>
              <a:rPr lang="en-US" sz="1865" dirty="0"/>
              <a:t>p</a:t>
            </a:r>
            <a:r>
              <a:rPr lang="ru-RU" sz="1865" dirty="0" err="1"/>
              <a:t>rint</a:t>
            </a:r>
            <a:r>
              <a:rPr lang="ru-RU" sz="1865" dirty="0"/>
              <a:t>(</a:t>
            </a:r>
            <a:r>
              <a:rPr lang="ru-RU" sz="1865" dirty="0" err="1"/>
              <a:t>enum</a:t>
            </a:r>
            <a:r>
              <a:rPr lang="ru-RU" sz="1865" dirty="0"/>
              <a:t> </a:t>
            </a:r>
            <a:r>
              <a:rPr lang="ru-RU" sz="1865" dirty="0" err="1"/>
              <a:t>PrintType</a:t>
            </a:r>
            <a:r>
              <a:rPr lang="ru-RU" sz="1865" dirty="0"/>
              <a:t> = E_RGBA) </a:t>
            </a:r>
            <a:r>
              <a:rPr lang="en-US" sz="1865" dirty="0"/>
              <a:t>– </a:t>
            </a:r>
            <a:r>
              <a:rPr lang="ru-RU" sz="1865" dirty="0"/>
              <a:t>печать на экран значений в соответствии с переданным типом (по умолчанию E_RGB)</a:t>
            </a:r>
            <a:endParaRPr lang="ru-RU" sz="1865" dirty="0"/>
          </a:p>
          <a:p>
            <a:pPr lvl="1"/>
            <a:r>
              <a:rPr lang="ru-RU" sz="1865" dirty="0"/>
              <a:t>E_RGBA: в строку (Пример: 255 255 255 255)</a:t>
            </a:r>
            <a:endParaRPr lang="ru-RU" sz="1865" dirty="0"/>
          </a:p>
          <a:p>
            <a:pPr lvl="1"/>
            <a:r>
              <a:rPr lang="ru-RU" sz="1865" dirty="0"/>
              <a:t>E_HEX: в </a:t>
            </a:r>
            <a:r>
              <a:rPr lang="ru-RU" sz="1865" dirty="0" err="1"/>
              <a:t>hex</a:t>
            </a:r>
            <a:r>
              <a:rPr lang="ru-RU" sz="1865" dirty="0"/>
              <a:t>-формате (Пример: `#</a:t>
            </a:r>
            <a:r>
              <a:rPr lang="ru-RU" sz="1865" dirty="0" err="1"/>
              <a:t>ffffffff</a:t>
            </a:r>
            <a:r>
              <a:rPr lang="ru-RU" sz="1865" dirty="0"/>
              <a:t>`)</a:t>
            </a:r>
            <a:endParaRPr lang="en-US" sz="1865" dirty="0"/>
          </a:p>
          <a:p>
            <a:pPr lvl="1">
              <a:buFont typeface="Times New Roman" panose="02020603050405020304" pitchFamily="18" charset="0"/>
              <a:buChar char="⁎"/>
            </a:pPr>
            <a:r>
              <a:rPr lang="en-US" sz="1865" dirty="0"/>
              <a:t>E_INT: </a:t>
            </a:r>
            <a:r>
              <a:rPr lang="ru-RU" sz="1865" dirty="0"/>
              <a:t>в числовом формате (</a:t>
            </a:r>
            <a:r>
              <a:rPr lang="en-US" sz="1865" dirty="0" err="1"/>
              <a:t>int</a:t>
            </a:r>
            <a:r>
              <a:rPr lang="en-US" sz="1865" dirty="0"/>
              <a:t>, </a:t>
            </a:r>
            <a:r>
              <a:rPr lang="ru-RU" sz="1865" dirty="0"/>
              <a:t>побитовый сдвиг</a:t>
            </a:r>
            <a:r>
              <a:rPr lang="en-US" sz="1865" dirty="0"/>
              <a:t>)</a:t>
            </a:r>
            <a:endParaRPr lang="ru-RU" sz="1865" dirty="0"/>
          </a:p>
          <a:p>
            <a:r>
              <a:rPr lang="en-US" sz="1865" dirty="0"/>
              <a:t>s</a:t>
            </a:r>
            <a:r>
              <a:rPr lang="ru-RU" sz="1865" dirty="0" err="1"/>
              <a:t>um</a:t>
            </a:r>
            <a:r>
              <a:rPr lang="ru-RU" sz="1865" dirty="0"/>
              <a:t>(</a:t>
            </a:r>
            <a:r>
              <a:rPr lang="ru-RU" sz="1865" dirty="0" err="1"/>
              <a:t>const</a:t>
            </a:r>
            <a:r>
              <a:rPr lang="ru-RU" sz="1865" dirty="0"/>
              <a:t> RGBA)</a:t>
            </a:r>
            <a:r>
              <a:rPr lang="en-US" sz="1865" dirty="0"/>
              <a:t> –</a:t>
            </a:r>
            <a:r>
              <a:rPr lang="ru-RU" sz="1865" dirty="0"/>
              <a:t> сложение цвета с переданным цветом, возвращает новый объект RGBA (компоненты в сумме не могут превысить 255).</a:t>
            </a:r>
            <a:endParaRPr lang="ru-RU" sz="1865" dirty="0"/>
          </a:p>
          <a:p>
            <a:pPr marL="0" indent="0">
              <a:buNone/>
            </a:pPr>
            <a:br>
              <a:rPr lang="ru-RU" sz="1865" dirty="0"/>
            </a:br>
            <a:r>
              <a:rPr lang="ru-RU" sz="1865" dirty="0"/>
              <a:t>Декомпозировать реализацию на файлы, в функции </a:t>
            </a:r>
            <a:r>
              <a:rPr lang="ru-RU" sz="1865" dirty="0" err="1"/>
              <a:t>main</a:t>
            </a:r>
            <a:r>
              <a:rPr lang="ru-RU" sz="1865" dirty="0"/>
              <a:t> создать объект класса, протестировать все реализованные функции</a:t>
            </a:r>
            <a:r>
              <a:rPr lang="en-US" sz="1865" dirty="0"/>
              <a:t>.</a:t>
            </a:r>
            <a:endParaRPr lang="ru-RU" sz="1865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C5C8D-314C-48F6-A8F7-E5E48CE6BF86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5349</Words>
  <Application>WPS Presentation</Application>
  <PresentationFormat>Широкоэкранный</PresentationFormat>
  <Paragraphs>178</Paragraphs>
  <Slides>21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Arial</vt:lpstr>
      <vt:lpstr>SimSun</vt:lpstr>
      <vt:lpstr>Wingdings</vt:lpstr>
      <vt:lpstr>Consolas</vt:lpstr>
      <vt:lpstr>Calibri Light</vt:lpstr>
      <vt:lpstr>Calibri</vt:lpstr>
      <vt:lpstr>Microsoft YaHei</vt:lpstr>
      <vt:lpstr>Arial Unicode MS</vt:lpstr>
      <vt:lpstr>Times New Roman</vt:lpstr>
      <vt:lpstr>Тема Office</vt:lpstr>
      <vt:lpstr>PowerPoint 演示文稿</vt:lpstr>
      <vt:lpstr>Введение в ООП</vt:lpstr>
      <vt:lpstr>Принципы ООП</vt:lpstr>
      <vt:lpstr>Классы и объекты</vt:lpstr>
      <vt:lpstr>Конструкторы и деструкторы</vt:lpstr>
      <vt:lpstr>Виды конструкторов</vt:lpstr>
      <vt:lpstr>Конструктор копирования </vt:lpstr>
      <vt:lpstr>Деструктор</vt:lpstr>
      <vt:lpstr>Rule of tree / rule of five</vt:lpstr>
      <vt:lpstr>Rule of tree / rule of five</vt:lpstr>
      <vt:lpstr>Инкапсуляция</vt:lpstr>
      <vt:lpstr>Инкапсуляция</vt:lpstr>
      <vt:lpstr>Полиморфизм</vt:lpstr>
      <vt:lpstr>Статический полиморфизм</vt:lpstr>
      <vt:lpstr>Статический полиморфизм</vt:lpstr>
      <vt:lpstr>Пример перегрузки конструкторов в классе</vt:lpstr>
      <vt:lpstr>Списки инициализации членов класса</vt:lpstr>
      <vt:lpstr>Списки инициализации членов класса</vt:lpstr>
      <vt:lpstr>Списки инициализации членов класса</vt:lpstr>
      <vt:lpstr>Списки инициализации членов класса</vt:lpstr>
      <vt:lpstr>Задачи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Владислав Смирнов</dc:creator>
  <cp:lastModifiedBy>Admin</cp:lastModifiedBy>
  <cp:revision>2</cp:revision>
  <dcterms:created xsi:type="dcterms:W3CDTF">2024-02-21T06:57:00Z</dcterms:created>
  <dcterms:modified xsi:type="dcterms:W3CDTF">2026-04-08T16:22:50Z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C336BF286D224DEDBBBD1871BE4D7B62_12</vt:lpwstr>
  </property>
  <property fmtid="{D5CDD505-2E9C-101B-9397-08002B2CF9AE}" pid="3" name="KSOProductBuildVer">
    <vt:lpwstr>1049-12.1.0.25242</vt:lpwstr>
  </property>
</Properties>
</file>